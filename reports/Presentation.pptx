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8772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0C4A7">
              <a:alpha val="40000"/>
            </a:srgbClr>
          </a:solidFill>
          <a:ln w="12700">
            <a:solidFill>
              <a:srgbClr val="00C4A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3200400"/>
            <a:ext cx="164592" cy="365760"/>
          </a:xfrm>
          <a:prstGeom prst="rect">
            <a:avLst/>
          </a:prstGeom>
          <a:solidFill>
            <a:srgbClr val="00C4A7">
              <a:alpha val="70000"/>
            </a:srgbClr>
          </a:solidFill>
          <a:ln w="12700">
            <a:solidFill>
              <a:srgbClr val="00C4A7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2743200"/>
            <a:ext cx="256032" cy="365760"/>
          </a:xfrm>
          <a:prstGeom prst="rect">
            <a:avLst/>
          </a:prstGeom>
          <a:solidFill>
            <a:srgbClr val="00C4A7">
              <a:alpha val="62000"/>
            </a:srgbClr>
          </a:solidFill>
          <a:ln w="12700">
            <a:solidFill>
              <a:srgbClr val="00C4A7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0" y="2286000"/>
            <a:ext cx="347472" cy="365760"/>
          </a:xfrm>
          <a:prstGeom prst="rect">
            <a:avLst/>
          </a:prstGeom>
          <a:solidFill>
            <a:srgbClr val="00C4A7">
              <a:alpha val="54000"/>
            </a:srgbClr>
          </a:solidFill>
          <a:ln w="12700">
            <a:solidFill>
              <a:srgbClr val="00C4A7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1828800"/>
            <a:ext cx="438912" cy="365760"/>
          </a:xfrm>
          <a:prstGeom prst="rect">
            <a:avLst/>
          </a:prstGeom>
          <a:solidFill>
            <a:srgbClr val="00C4A7">
              <a:alpha val="46000"/>
            </a:srgbClr>
          </a:solidFill>
          <a:ln w="12700">
            <a:solidFill>
              <a:srgbClr val="00C4A7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1371600"/>
            <a:ext cx="530352" cy="365760"/>
          </a:xfrm>
          <a:prstGeom prst="rect">
            <a:avLst/>
          </a:prstGeom>
          <a:solidFill>
            <a:srgbClr val="00C4A7">
              <a:alpha val="38000"/>
            </a:srgbClr>
          </a:solidFill>
          <a:ln w="12700">
            <a:solidFill>
              <a:srgbClr val="00C4A7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9144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80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Capstone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Analysis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286000" cy="36576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Hedau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Analysis · 2022–2026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82296" cy="10972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515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Analyze Mutual Fund NAV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price analysis from 2022–2026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2199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21992"/>
            <a:ext cx="82296" cy="10972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134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Build ETL Pipeline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7249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extraction, transformation &amp; loading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83864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83864"/>
            <a:ext cx="82296" cy="10972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753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Store Data in SQLite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98678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relational database storage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9601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960120"/>
            <a:ext cx="82296" cy="10972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0515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Perform EDA &amp; Analytics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1463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&amp; performance metrics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22199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221992"/>
            <a:ext cx="82296" cy="10972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3134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Create Power BI Dashboard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27249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reporting &amp; filtering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483864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3483864"/>
            <a:ext cx="82296" cy="10972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5753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Generate Investment Insights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0" y="398678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recommendations for investors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pipeline design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4340" y="1828800"/>
            <a:ext cx="1188720" cy="749808"/>
          </a:xfrm>
          <a:prstGeom prst="rect">
            <a:avLst/>
          </a:prstGeom>
          <a:solidFill>
            <a:srgbClr val="0D1B3E"/>
          </a:solidFill>
          <a:ln w="19050">
            <a:solidFill>
              <a:srgbClr val="0A7EA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4340" y="1828800"/>
            <a:ext cx="1188720" cy="54864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" y="18928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4340" y="2176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50492" y="2203704"/>
            <a:ext cx="173736" cy="0"/>
          </a:xfrm>
          <a:prstGeom prst="line">
            <a:avLst/>
          </a:prstGeom>
          <a:noFill/>
          <a:ln w="25400">
            <a:solidFill>
              <a:srgbClr val="0A7EA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51660" y="1828800"/>
            <a:ext cx="11887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A7EA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51660" y="1828800"/>
            <a:ext cx="1188720" cy="54864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51660" y="18928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51660" y="2176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67812" y="2203704"/>
            <a:ext cx="173736" cy="0"/>
          </a:xfrm>
          <a:prstGeom prst="line">
            <a:avLst/>
          </a:prstGeom>
          <a:noFill/>
          <a:ln w="25400">
            <a:solidFill>
              <a:srgbClr val="0A7EA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8980" y="1828800"/>
            <a:ext cx="11887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A7EA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8980" y="1828800"/>
            <a:ext cx="1188720" cy="54864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8980" y="18928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🗄️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68980" y="2176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85132" y="2203704"/>
            <a:ext cx="173736" cy="0"/>
          </a:xfrm>
          <a:prstGeom prst="line">
            <a:avLst/>
          </a:prstGeom>
          <a:noFill/>
          <a:ln w="25400">
            <a:solidFill>
              <a:srgbClr val="0A7EA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828800"/>
            <a:ext cx="11887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A7EA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86300" y="1828800"/>
            <a:ext cx="1188720" cy="54864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8928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86300" y="2176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Analytics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02452" y="2203704"/>
            <a:ext cx="173736" cy="0"/>
          </a:xfrm>
          <a:prstGeom prst="line">
            <a:avLst/>
          </a:prstGeom>
          <a:noFill/>
          <a:ln w="25400">
            <a:solidFill>
              <a:srgbClr val="0A7E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03620" y="1828800"/>
            <a:ext cx="11887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A7EA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03620" y="1828800"/>
            <a:ext cx="1188720" cy="54864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03620" y="18928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03620" y="2176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319772" y="2203704"/>
            <a:ext cx="173736" cy="0"/>
          </a:xfrm>
          <a:prstGeom prst="line">
            <a:avLst/>
          </a:prstGeom>
          <a:noFill/>
          <a:ln w="25400">
            <a:solidFill>
              <a:srgbClr val="0A7EA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20940" y="1828800"/>
            <a:ext cx="1188720" cy="749808"/>
          </a:xfrm>
          <a:prstGeom prst="rect">
            <a:avLst/>
          </a:prstGeom>
          <a:solidFill>
            <a:srgbClr val="065A82"/>
          </a:solidFill>
          <a:ln w="19050">
            <a:solidFill>
              <a:srgbClr val="0A7EA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520940" y="1828800"/>
            <a:ext cx="1188720" cy="54864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20940" y="18928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20940" y="2176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Insights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2900" y="26883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Fund Schemes · Daily NAV · CSV Files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760220" y="26883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Transform → Load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177540" y="26883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Storage · Queryable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94860" y="26883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· Volatility · Correlation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12180" y="26883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 · KPIs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429500" y="26883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· Recommendations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structure of the mutual fund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2560320" cy="64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53619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Schemes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2560320" cy="640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00400" y="153619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00400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Data Frequency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00584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005840"/>
            <a:ext cx="256032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🗓️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035040" y="153619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035040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Period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7432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743200"/>
            <a:ext cx="2560320" cy="64008"/>
          </a:xfrm>
          <a:prstGeom prst="rect">
            <a:avLst/>
          </a:prstGeom>
          <a:solidFill>
            <a:srgbClr val="156F4A"/>
          </a:solidFill>
          <a:ln w="12700">
            <a:solidFill>
              <a:srgbClr val="156F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834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65760" y="327355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65760" y="3703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Tracked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0" y="27432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743200"/>
            <a:ext cx="25603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2834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200400" y="327355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200400" y="3703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27432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2743200"/>
            <a:ext cx="2560320" cy="64008"/>
          </a:xfrm>
          <a:prstGeom prst="rect">
            <a:avLst/>
          </a:prstGeom>
          <a:solidFill>
            <a:srgbClr val="156F4A"/>
          </a:solidFill>
          <a:ln w="12700">
            <a:solidFill>
              <a:srgbClr val="156F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2834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02920" y="327355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502920" y="3703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Tracked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337560" y="27432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37560" y="2743200"/>
            <a:ext cx="25603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2834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337560" y="327355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3337560" y="3703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Trend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NAV movement across all 40 fund schemes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896112"/>
            <a:ext cx="5852160" cy="640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515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Chart: reports\nav_trend.png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5303520" cy="0"/>
          </a:xfrm>
          <a:prstGeom prst="line">
            <a:avLst/>
          </a:prstGeom>
          <a:noFill/>
          <a:ln w="10160">
            <a:solidFill>
              <a:srgbClr val="D0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21408"/>
            <a:ext cx="5303520" cy="0"/>
          </a:xfrm>
          <a:prstGeom prst="line">
            <a:avLst/>
          </a:prstGeom>
          <a:noFill/>
          <a:ln w="10160">
            <a:solidFill>
              <a:srgbClr val="D0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88336"/>
            <a:ext cx="5303520" cy="0"/>
          </a:xfrm>
          <a:prstGeom prst="line">
            <a:avLst/>
          </a:prstGeom>
          <a:noFill/>
          <a:ln w="10160">
            <a:solidFill>
              <a:srgbClr val="D0E8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55264"/>
            <a:ext cx="5303520" cy="0"/>
          </a:xfrm>
          <a:prstGeom prst="line">
            <a:avLst/>
          </a:prstGeom>
          <a:noFill/>
          <a:ln w="10160">
            <a:solidFill>
              <a:srgbClr val="D0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896112"/>
            <a:ext cx="2423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896112"/>
            <a:ext cx="2423160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0058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Key Points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1417320"/>
            <a:ext cx="2240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upward NAV trend across the period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growth during bull market phases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corrections clearly observed</a:t>
            </a:r>
            <a:endParaRPr lang="en-US" sz="1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57A9498-20DB-6A80-8154-15DBD42A2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944" y="1508760"/>
            <a:ext cx="4657658" cy="2465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NAV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Scheme-wise average NAV comparison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896112"/>
            <a:ext cx="5852160" cy="640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515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Chart: reports\avg_nav.png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5303520" cy="0"/>
          </a:xfrm>
          <a:prstGeom prst="line">
            <a:avLst/>
          </a:prstGeom>
          <a:noFill/>
          <a:ln w="10160">
            <a:solidFill>
              <a:srgbClr val="D0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21408"/>
            <a:ext cx="5303520" cy="0"/>
          </a:xfrm>
          <a:prstGeom prst="line">
            <a:avLst/>
          </a:prstGeom>
          <a:noFill/>
          <a:ln w="10160">
            <a:solidFill>
              <a:srgbClr val="D0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88336"/>
            <a:ext cx="5303520" cy="0"/>
          </a:xfrm>
          <a:prstGeom prst="line">
            <a:avLst/>
          </a:prstGeom>
          <a:noFill/>
          <a:ln w="10160">
            <a:solidFill>
              <a:srgbClr val="D0E8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55264"/>
            <a:ext cx="5303520" cy="0"/>
          </a:xfrm>
          <a:prstGeom prst="line">
            <a:avLst/>
          </a:prstGeom>
          <a:noFill/>
          <a:ln w="10160">
            <a:solidFill>
              <a:srgbClr val="D0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896112"/>
            <a:ext cx="2423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896112"/>
            <a:ext cx="2423160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0058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Key Points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1417320"/>
            <a:ext cx="2240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Cross-scheme comparison of average NAV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NAV funds identified &amp; highlighted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spread indicates fund diversity</a:t>
            </a:r>
            <a:endParaRPr lang="en-US" sz="1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3AFEF87-4E13-EF84-F634-B4E4D25AB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46" y="1353312"/>
            <a:ext cx="5219114" cy="35630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comparison across fund schemes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896112"/>
            <a:ext cx="5852160" cy="640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515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Chart: reports\volatility.png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5303520" cy="0"/>
          </a:xfrm>
          <a:prstGeom prst="line">
            <a:avLst/>
          </a:prstGeom>
          <a:noFill/>
          <a:ln w="10160">
            <a:solidFill>
              <a:srgbClr val="D0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21408"/>
            <a:ext cx="5303520" cy="0"/>
          </a:xfrm>
          <a:prstGeom prst="line">
            <a:avLst/>
          </a:prstGeom>
          <a:noFill/>
          <a:ln w="10160">
            <a:solidFill>
              <a:srgbClr val="D0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88336"/>
            <a:ext cx="5303520" cy="0"/>
          </a:xfrm>
          <a:prstGeom prst="line">
            <a:avLst/>
          </a:prstGeom>
          <a:noFill/>
          <a:ln w="10160">
            <a:solidFill>
              <a:srgbClr val="D0E8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55264"/>
            <a:ext cx="5303520" cy="0"/>
          </a:xfrm>
          <a:prstGeom prst="line">
            <a:avLst/>
          </a:prstGeom>
          <a:noFill/>
          <a:ln w="10160">
            <a:solidFill>
              <a:srgbClr val="D0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896112"/>
            <a:ext cx="2423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896112"/>
            <a:ext cx="2423160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0058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Key Points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1417320"/>
            <a:ext cx="2240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profiling across fund schemes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low-risk funds identified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funds with greater return potential</a:t>
            </a:r>
            <a:endParaRPr lang="en-US" sz="1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F9E5E82-7277-77DC-6CFF-535C4E545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32" y="1371600"/>
            <a:ext cx="5018335" cy="34786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Distribution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fund returns and performance spread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896112"/>
            <a:ext cx="5852160" cy="640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515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Chart: reports\return_distribution.png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5303520" cy="0"/>
          </a:xfrm>
          <a:prstGeom prst="line">
            <a:avLst/>
          </a:prstGeom>
          <a:noFill/>
          <a:ln w="10160">
            <a:solidFill>
              <a:srgbClr val="D0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21408"/>
            <a:ext cx="5303520" cy="0"/>
          </a:xfrm>
          <a:prstGeom prst="line">
            <a:avLst/>
          </a:prstGeom>
          <a:noFill/>
          <a:ln w="10160">
            <a:solidFill>
              <a:srgbClr val="D0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88336"/>
            <a:ext cx="5303520" cy="0"/>
          </a:xfrm>
          <a:prstGeom prst="line">
            <a:avLst/>
          </a:prstGeom>
          <a:noFill/>
          <a:ln w="10160">
            <a:solidFill>
              <a:srgbClr val="D0E8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55264"/>
            <a:ext cx="5303520" cy="0"/>
          </a:xfrm>
          <a:prstGeom prst="line">
            <a:avLst/>
          </a:prstGeom>
          <a:noFill/>
          <a:ln w="10160">
            <a:solidFill>
              <a:srgbClr val="D0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896112"/>
            <a:ext cx="2423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896112"/>
            <a:ext cx="2423160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0058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Key Points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1417320"/>
            <a:ext cx="2240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spread analysis across schemes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 consistency measured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funds identified for review</a:t>
            </a:r>
            <a:endParaRPr lang="en-US" sz="1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FC19509-EF83-9FBC-E611-F81A9F579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5363308" cy="33411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Inter-fund correlation for portfolio diversification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896112"/>
            <a:ext cx="5852160" cy="640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515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Chart: reports\correlation_matrix.png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5303520" cy="0"/>
          </a:xfrm>
          <a:prstGeom prst="line">
            <a:avLst/>
          </a:prstGeom>
          <a:noFill/>
          <a:ln w="10160">
            <a:solidFill>
              <a:srgbClr val="D0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21408"/>
            <a:ext cx="5303520" cy="0"/>
          </a:xfrm>
          <a:prstGeom prst="line">
            <a:avLst/>
          </a:prstGeom>
          <a:noFill/>
          <a:ln w="10160">
            <a:solidFill>
              <a:srgbClr val="D0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88336"/>
            <a:ext cx="5303520" cy="0"/>
          </a:xfrm>
          <a:prstGeom prst="line">
            <a:avLst/>
          </a:prstGeom>
          <a:noFill/>
          <a:ln w="10160">
            <a:solidFill>
              <a:srgbClr val="D0E8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55264"/>
            <a:ext cx="5303520" cy="0"/>
          </a:xfrm>
          <a:prstGeom prst="line">
            <a:avLst/>
          </a:prstGeom>
          <a:noFill/>
          <a:ln w="10160">
            <a:solidFill>
              <a:srgbClr val="D0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896112"/>
            <a:ext cx="2423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896112"/>
            <a:ext cx="2423160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0058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Key Points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1417320"/>
            <a:ext cx="2240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correlated fund pairs identified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opportunities revealed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optimization insights</a:t>
            </a:r>
            <a:endParaRPr lang="en-US" sz="1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CBD571C-D18C-C94C-3E7C-0464612F0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31972"/>
            <a:ext cx="5486399" cy="32299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Return Ranking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ranking of all 40 mutual fund schemes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896112"/>
            <a:ext cx="5852160" cy="640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515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Chart: reports\fund_return_ranking.png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5303520" cy="0"/>
          </a:xfrm>
          <a:prstGeom prst="line">
            <a:avLst/>
          </a:prstGeom>
          <a:noFill/>
          <a:ln w="10160">
            <a:solidFill>
              <a:srgbClr val="D0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21408"/>
            <a:ext cx="5303520" cy="0"/>
          </a:xfrm>
          <a:prstGeom prst="line">
            <a:avLst/>
          </a:prstGeom>
          <a:noFill/>
          <a:ln w="10160">
            <a:solidFill>
              <a:srgbClr val="D0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88336"/>
            <a:ext cx="5303520" cy="0"/>
          </a:xfrm>
          <a:prstGeom prst="line">
            <a:avLst/>
          </a:prstGeom>
          <a:noFill/>
          <a:ln w="10160">
            <a:solidFill>
              <a:srgbClr val="D0E8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55264"/>
            <a:ext cx="5303520" cy="0"/>
          </a:xfrm>
          <a:prstGeom prst="line">
            <a:avLst/>
          </a:prstGeom>
          <a:noFill/>
          <a:ln w="10160">
            <a:solidFill>
              <a:srgbClr val="D0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896112"/>
            <a:ext cx="2423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896112"/>
            <a:ext cx="2423160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0058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Key Points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1417320"/>
            <a:ext cx="2240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performing funds ranked by returns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return generators highlighted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performance tiers visible</a:t>
            </a:r>
            <a:endParaRPr lang="en-US" sz="1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52603E5-D237-129A-4C87-21049F5C5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5508800" cy="30358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dashboard\bluestock_mf.pbix · Interactive Analytics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8412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96112"/>
            <a:ext cx="8412480" cy="640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05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Dashboard  |  bluestock_mf.pbix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960120" cy="347472"/>
          </a:xfrm>
          <a:prstGeom prst="rect">
            <a:avLst/>
          </a:prstGeom>
          <a:solidFill>
            <a:srgbClr val="EDF4FA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7276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Scheme ▼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508760" y="1554480"/>
            <a:ext cx="960120" cy="347472"/>
          </a:xfrm>
          <a:prstGeom prst="rect">
            <a:avLst/>
          </a:prstGeom>
          <a:solidFill>
            <a:srgbClr val="EDF4FA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157276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▼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0" y="1554480"/>
            <a:ext cx="960120" cy="347472"/>
          </a:xfrm>
          <a:prstGeom prst="rect">
            <a:avLst/>
          </a:prstGeom>
          <a:solidFill>
            <a:srgbClr val="EDF4FA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57276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▼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0" y="1508760"/>
            <a:ext cx="1143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0" y="15361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181051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919472" y="1508760"/>
            <a:ext cx="1143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19472" y="15361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9472" y="181051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NAV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181344" y="1508760"/>
            <a:ext cx="1143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81344" y="15361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81344" y="181051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Return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443216" y="1508760"/>
            <a:ext cx="1143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43216" y="15361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43216" y="181051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Vol.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2148840"/>
            <a:ext cx="3931920" cy="1325880"/>
          </a:xfrm>
          <a:prstGeom prst="rect">
            <a:avLst/>
          </a:prstGeom>
          <a:solidFill>
            <a:srgbClr val="EDF4FA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2212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NAV Trend Line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26280" y="2148840"/>
            <a:ext cx="1920240" cy="1325880"/>
          </a:xfrm>
          <a:prstGeom prst="rect">
            <a:avLst/>
          </a:prstGeom>
          <a:solidFill>
            <a:srgbClr val="EDF4FA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🥧 Fund Category Split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583680" y="2148840"/>
            <a:ext cx="2011680" cy="1325880"/>
          </a:xfrm>
          <a:prstGeom prst="rect">
            <a:avLst/>
          </a:prstGeom>
          <a:solidFill>
            <a:srgbClr val="EDF4FA"/>
          </a:solidFill>
          <a:ln w="12700">
            <a:solidFill>
              <a:srgbClr val="D0E8F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67512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Top 10 Funds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35661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Interactive slicers for fund &amp; date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Fund filtering &amp; drill-through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Performance tracking KPIs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Cross-visual highlighting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Analysis · Vishal Hedau · June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520440"/>
          </a:xfrm>
          <a:prstGeom prst="rect">
            <a:avLst/>
          </a:prstGeom>
          <a:solidFill>
            <a:srgbClr val="122553"/>
          </a:solidFill>
          <a:ln w="12700">
            <a:solidFill>
              <a:srgbClr val="0A7EA4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7315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533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Key Findings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 showed consistent long-term growth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funds delivered higher returns with higher risk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reduces portfolio volatility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Top-ranked funds outperformed their peers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114800" cy="3520440"/>
          </a:xfrm>
          <a:prstGeom prst="rect">
            <a:avLst/>
          </a:prstGeom>
          <a:solidFill>
            <a:srgbClr val="122553"/>
          </a:solidFill>
          <a:ln w="12700">
            <a:solidFill>
              <a:srgbClr val="00C4A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234440"/>
            <a:ext cx="4114800" cy="73152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3533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Conclusion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0600" y="1810512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successfully automated data processing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enabled efficient &amp; structured storage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and dashboard provided actionable insights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8188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  |  Vishal Hedau  |  June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556</Words>
  <Application>Microsoft Office PowerPoint</Application>
  <PresentationFormat>On-screen Show (16:9)</PresentationFormat>
  <Paragraphs>149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Mutual Fund Analysis</dc:title>
  <dc:subject>PptxGenJS Presentation</dc:subject>
  <dc:creator>Vishal Hedau</dc:creator>
  <cp:lastModifiedBy>Vishal Hedau</cp:lastModifiedBy>
  <cp:revision>2</cp:revision>
  <dcterms:created xsi:type="dcterms:W3CDTF">2026-06-05T17:32:14Z</dcterms:created>
  <dcterms:modified xsi:type="dcterms:W3CDTF">2026-06-05T17:47:06Z</dcterms:modified>
</cp:coreProperties>
</file>